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1" i="0" u="none" strike="noStrike">
                <a:solidFill>
                  <a:srgbClr val="1E2761"/>
                </a:solidFill>
                <a:latin typeface="Calibri"/>
              </a:rPr>
              <a:t>Test-Set R² by Model  (higher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81-4B01-B824-75C9FB8DE19D}"/>
              </c:ext>
            </c:extLst>
          </c:dPt>
          <c:dPt>
            <c:idx val="1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81-4B01-B824-75C9FB8DE19D}"/>
              </c:ext>
            </c:extLst>
          </c:dPt>
          <c:dPt>
            <c:idx val="2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81-4B01-B824-75C9FB8DE19D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81-4B01-B824-75C9FB8DE19D}"/>
              </c:ext>
            </c:extLst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81-4B01-B824-75C9FB8DE19D}"/>
              </c:ext>
            </c:extLst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81-4B01-B824-75C9FB8DE19D}"/>
              </c:ext>
            </c:extLst>
          </c:dPt>
          <c:dPt>
            <c:idx val="6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81-4B01-B824-75C9FB8DE19D}"/>
              </c:ext>
            </c:extLst>
          </c:dPt>
          <c:dPt>
            <c:idx val="7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A81-4B01-B824-75C9FB8DE19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SVR</c:v>
                </c:pt>
                <c:pt idx="1">
                  <c:v>MLP (Neural Net)</c:v>
                </c:pt>
                <c:pt idx="2">
                  <c:v>Linear Regression</c:v>
                </c:pt>
                <c:pt idx="3">
                  <c:v>XGBoost</c:v>
                </c:pt>
                <c:pt idx="4">
                  <c:v>Random Forest</c:v>
                </c:pt>
                <c:pt idx="5">
                  <c:v>CatBoost (default)</c:v>
                </c:pt>
                <c:pt idx="6">
                  <c:v>Decision Tree</c:v>
                </c:pt>
                <c:pt idx="7">
                  <c:v>Tuned CatBoost — FINAL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-0.04</c:v>
                </c:pt>
                <c:pt idx="1">
                  <c:v>0.42</c:v>
                </c:pt>
                <c:pt idx="2">
                  <c:v>0.44</c:v>
                </c:pt>
                <c:pt idx="3">
                  <c:v>0.71</c:v>
                </c:pt>
                <c:pt idx="4">
                  <c:v>0.73</c:v>
                </c:pt>
                <c:pt idx="5">
                  <c:v>0.73</c:v>
                </c:pt>
                <c:pt idx="6">
                  <c:v>0.74</c:v>
                </c:pt>
                <c:pt idx="7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A81-4B01-B824-75C9FB8DE1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Referral Count</c:v>
                </c:pt>
                <c:pt idx="1">
                  <c:v>Income Level</c:v>
                </c:pt>
                <c:pt idx="2">
                  <c:v>Age</c:v>
                </c:pt>
                <c:pt idx="3">
                  <c:v>Cashback Received</c:v>
                </c:pt>
                <c:pt idx="4">
                  <c:v>Customer Satisfaction</c:v>
                </c:pt>
                <c:pt idx="5">
                  <c:v>Payment Method (UPI)</c:v>
                </c:pt>
                <c:pt idx="6">
                  <c:v>Loyalty Points Earned</c:v>
                </c:pt>
                <c:pt idx="7">
                  <c:v>Support Burden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3096</c:v>
                </c:pt>
                <c:pt idx="1">
                  <c:v>3436</c:v>
                </c:pt>
                <c:pt idx="2">
                  <c:v>4424</c:v>
                </c:pt>
                <c:pt idx="3">
                  <c:v>4441</c:v>
                </c:pt>
                <c:pt idx="4">
                  <c:v>4641</c:v>
                </c:pt>
                <c:pt idx="5">
                  <c:v>4662</c:v>
                </c:pt>
                <c:pt idx="6">
                  <c:v>5723</c:v>
                </c:pt>
                <c:pt idx="7">
                  <c:v>6399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4-47BC-91EF-46DF390E5F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LTV (thousands)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DE-4B45-AE1E-1ED733ABF3D8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DE-4B45-AE1E-1ED733ABF3D8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DE-4B45-AE1E-1ED733ABF3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Urban</c:v>
                </c:pt>
                <c:pt idx="1">
                  <c:v>Rural</c:v>
                </c:pt>
                <c:pt idx="2">
                  <c:v>Suburban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507.6</c:v>
                </c:pt>
                <c:pt idx="1">
                  <c:v>507.8</c:v>
                </c:pt>
                <c:pt idx="2">
                  <c:v>520.4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DE-4B45-AE1E-1ED733ABF3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LTV (thousands)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41-4EA6-908A-C529596D6604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41-4EA6-908A-C529596D6604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41-4EA6-908A-C529596D66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Middle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502.4</c:v>
                </c:pt>
                <c:pt idx="1">
                  <c:v>510.1</c:v>
                </c:pt>
                <c:pt idx="2">
                  <c:v>522.9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41-4EA6-908A-C529596D66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LTV (thousands)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1A-4199-8015-1471C4AA2B83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1A-4199-8015-1471C4AA2B83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1A-4199-8015-1471C4AA2B83}"/>
              </c:ext>
            </c:extLst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1A-4199-8015-1471C4AA2B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3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Debit Card</c:v>
                </c:pt>
                <c:pt idx="1">
                  <c:v>UPI</c:v>
                </c:pt>
                <c:pt idx="2">
                  <c:v>Wallet Bal.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507.9</c:v>
                </c:pt>
                <c:pt idx="1">
                  <c:v>508.5</c:v>
                </c:pt>
                <c:pt idx="2">
                  <c:v>509.8</c:v>
                </c:pt>
                <c:pt idx="3">
                  <c:v>521.79999999999995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1A-4199-8015-1471C4AA2B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69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937760" cy="493776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Lifetime Value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•  Data Science &amp; Analytics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models were tested to predict customer lifetime value. Here is what matters most.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777240" y="1764792"/>
            <a:ext cx="46634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7869"/>
            <a:ext cx="466344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LTV variation is explained by the final model on data it had never seen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217920" y="1764792"/>
            <a:ext cx="46634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607869"/>
            <a:ext cx="466344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metrics spend per active day &amp; average transaction value  drive most of predicted LTV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46634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37837"/>
            <a:ext cx="466344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LTV difference between demographic segments (location, income, payment method)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3630168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217920" y="3824021"/>
            <a:ext cx="46634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637837"/>
            <a:ext cx="466344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final model: best accuracy-to-reliability balance of all 8 approaches tested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is earned through engagement and not defined by demographics.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validated foundation for reliable predictions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242095"/>
              </p:ext>
            </p:extLst>
          </p:nvPr>
        </p:nvGraphicFramePr>
        <p:xfrm>
          <a:off x="548640" y="1554480"/>
          <a:ext cx="5577840" cy="34015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Characteristic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analysed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(after removing redundant/correlated features)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fully resolved before modelling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5,600 training  &amp; 1,400 independent test (80/20)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cross-validation throughout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55448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681228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quality checks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12280" y="247802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114032" y="24231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every predictor pair for correlation and removed 4 redundant engineered features (r &gt; 0.7) to avoid double-counting the same signal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12280" y="35753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7114032" y="35204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remaining features for multicollinearity (VIF); only Age showed a moderate risk (6.6), still within an acceptable range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12280" y="46725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7114032" y="46177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all numerical features before modelling, so no single variable's scale could dominate the others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Customer LTV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 itself tells a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777240" y="1810512"/>
            <a:ext cx="3044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511,920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06624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LTV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7,000 customers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4572000" y="1810512"/>
            <a:ext cx="3044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387,818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06624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LTV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customer's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8366760" y="1810512"/>
            <a:ext cx="3044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1.96M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706624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observed LTV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a long value tail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86868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4023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LTV is right-skewed. 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A small group of very high-value customers pulls the average (511,920) well above the median (387,818), the classic signature of a customer base with a distinct, high-value tail. Identifying and protecting these customers early is where retention spend goes furthest.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Reliable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 staged, validated process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</a:rPr>
              <a:t>Baseline models first, then advanced ML and deep learning, all scored the same way on data held out from training.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Complexity ≠ accuracy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</a:rPr>
              <a:t>Random Forest and XGBoost scored well on training data but overfit, at 22-point gap versus test performance.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Final choice: tuned CatBoost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</a:rPr>
              <a:t>Tuned via 5-fold cross-validated search (250 fits). Best balance of accuracy and generalisation.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892040" y="132588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 across every approach evaluated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114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329,543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243,560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151,245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235,673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450,229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CatBoost —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226,407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CatBoost, evaluated on 1,400 customers held out from training and tuning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777240" y="1810512"/>
            <a:ext cx="20939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59659"/>
            <a:ext cx="209397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LTV variation explained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584448" y="1810512"/>
            <a:ext cx="20939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152.8K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759659"/>
            <a:ext cx="209397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average prediction error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391656" y="1810512"/>
            <a:ext cx="20939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226.4K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759659"/>
            <a:ext cx="209397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 extreme miscalibration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9198864" y="1810512"/>
            <a:ext cx="20939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55.8%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759659"/>
            <a:ext cx="209397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MAPE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ranking/tiering, not exact totals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68680" y="427939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68680" y="4279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16052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Small train–test gap (28%) confirms strong generalisation. 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</a:rPr>
              <a:t>The model performs almost as well on new customers as it did during training, a key sign it is safe to deploy in production, rather than memorising patterns specific to the training data.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LTV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of the final model ranking every factor's influence on predicted customer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per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Day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strongest signal is roughly 30  more influential than a typical remaining factor.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6002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4348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Value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second-strongest driver transaction depth matters as much as frequency.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contributes far less  and roughly equally: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22951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074152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raised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26974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074152" y="2642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earned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18120" y="30998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074152" y="30449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(UPI)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18120" y="35021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074152" y="3447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39044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8074152" y="3849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received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8120" y="43068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8074152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referrals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Value Drivers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top two and  remaining factors ranked by SHAP influence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9167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0D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scale: the top two drivers measure 221,900 and 153,231, 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25 to 70 times larger than any single factor shown above.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 Barely Move the Needle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LTV by location shows differences across all demographic cuts are consistently under 4%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6492240" y="1600200"/>
            <a:ext cx="4617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Income level: 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</a:rPr>
              <a:t>Middle: 522.9K vs. High 502.4K and a 4% spread.
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Payment method: 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</a:rPr>
              <a:t>Under 3% spread across UPI, cards and wallet balance.
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App usage frequency: 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</a:rPr>
              <a:t>Daily vs. weekly users differ by 1%.
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</a:rPr>
              <a:t>Implication: 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B2340"/>
                </a:solidFill>
              </a:rPr>
              <a:t>targeting by geography or income tier is unlikely to move LTV outcomes on its own.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 at Segments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 and payment method show the same pattern: minimal spread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53912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Payment Method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53912" y="187452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9616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49961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3716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engagement, not demographics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5564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initiatives that raise spend-per-active-day and transaction size over demographic-based campaign targeting.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9776"/>
            <a:ext cx="914400" cy="914400"/>
          </a:xfrm>
          <a:prstGeom prst="ellipse">
            <a:avLst/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48640" y="27797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517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early-warning signal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03580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in spend-per-active-day is the earliest likely sign of falling future LTV, flag it for proactive retention outreach.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914400" cy="914400"/>
          </a:xfrm>
          <a:prstGeom prst="ellipse">
            <a:avLst/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8640" y="40599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9319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model to rank &amp; tier customers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3159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customers and route top-tier LTV customers to differentiated, premium retention treatment.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0096"/>
            <a:ext cx="914400" cy="914400"/>
          </a:xfrm>
          <a:prstGeom prst="ellipse">
            <a:avLst/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48640" y="53400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12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the model on a regular cadence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59612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quarterly using the validated pipeline so predictions stay current as behaviour evolves.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9616"/>
            <a:ext cx="914400" cy="914400"/>
          </a:xfrm>
          <a:prstGeom prst="ellipse">
            <a:avLst/>
          </a:prstGeom>
          <a:solidFill>
            <a:srgbClr val="FBF0D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49961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3716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precision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5564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percentage error of 56% means the model is best for ranking and tiering, not exact individual forecasts.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9776"/>
            <a:ext cx="914400" cy="914400"/>
          </a:xfrm>
          <a:prstGeom prst="ellipse">
            <a:avLst/>
          </a:prstGeom>
          <a:solidFill>
            <a:srgbClr val="FBF0D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48640" y="27797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517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Unexplained variation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03580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26% of LTV variation remains unexplained; adding acquisition channel, tenure or product-mix data could sharpen accuracy.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914400" cy="914400"/>
          </a:xfrm>
          <a:prstGeom prst="ellipse">
            <a:avLst/>
          </a:prstGeom>
          <a:solidFill>
            <a:srgbClr val="FBF0D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8640" y="40599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9319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target variable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3159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very high-value customers may warrant a dedicated high-value-customer model in a future iteration.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0096"/>
            <a:ext cx="914400" cy="914400"/>
          </a:xfrm>
          <a:prstGeom prst="ellipse">
            <a:avLst/>
          </a:prstGeom>
          <a:solidFill>
            <a:srgbClr val="FBF0D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48640" y="53400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12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snapshot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59612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1250" dirty="0" err="1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</a:t>
            </a: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evolves, scheduled retraining is required to keep predictions accurate over time.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validated model to embedded business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4434840"/>
          </a:xfrm>
          <a:prstGeom prst="roundRect">
            <a:avLst>
              <a:gd name="adj" fmla="val 26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134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weeks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078992" y="28529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scoring pipeline to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953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078992" y="37673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all customers by predicted LTV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8097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078992" y="46817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tiered lists with retention teams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502152" cy="4434840"/>
          </a:xfrm>
          <a:prstGeom prst="roundRect">
            <a:avLst>
              <a:gd name="adj" fmla="val 26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617720" y="1874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3134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298094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873752" y="28529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engagement campaigns targeting spend-per-day and transaction 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89534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873752" y="37673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early-warning alert on declining engagement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502152" cy="4434840"/>
          </a:xfrm>
          <a:prstGeom prst="roundRect">
            <a:avLst>
              <a:gd name="adj" fmla="val 2611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8412480" y="1874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3134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298094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8668512" y="28529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on refreshed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0" y="389534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8668512" y="37673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accuracy drift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80974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668512" y="468172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feature set as new data becomes available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NexaSat Digital Wallet  |  Customer LTV Prediction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937760" cy="493776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1097280" y="228600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is earned through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Engagement, and not defined by demographics.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4805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 production  ·  Quarterly retraining recommended  ·  Data Science &amp; Analytics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1214</Words>
  <Application>Microsoft Office PowerPoint</Application>
  <PresentationFormat>Widescreen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EUGENE OSAE</cp:lastModifiedBy>
  <cp:revision>2</cp:revision>
  <dcterms:created xsi:type="dcterms:W3CDTF">2026-09-23T09:28:39Z</dcterms:created>
  <dcterms:modified xsi:type="dcterms:W3CDTF">2026-09-24T09:08:14Z</dcterms:modified>
</cp:coreProperties>
</file>